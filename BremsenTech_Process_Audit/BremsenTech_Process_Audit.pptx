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7FB3E8"/>
                </a:solidFill>
              </a:rPr>
              <a:t>PORTFOLIO PROJECT 02, SAP + PM, MAY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7FB3E8"/>
                </a:solidFill>
              </a:rPr>
              <a:t>BremsenTech GmbH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Order-to-Delivery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Process Audit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606040" cy="914400"/>
          </a:xfrm>
          <a:prstGeom prst="rect">
            <a:avLst/>
          </a:prstGeom>
          <a:solidFill>
            <a:srgbClr val="243B5E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B3E8"/>
                </a:solidFill>
              </a:rPr>
              <a:t>14.2 → 8.1 days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8D8"/>
                </a:solidFill>
              </a:rPr>
              <a:t>Order-to-Delivery 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3017520"/>
            <a:ext cx="2606040" cy="914400"/>
          </a:xfrm>
          <a:prstGeom prst="rect">
            <a:avLst/>
          </a:prstGeom>
          <a:solidFill>
            <a:srgbClr val="243B5E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06324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B3E8"/>
                </a:solidFill>
              </a:rPr>
              <a:t>EUR 683K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3456432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8D8"/>
                </a:solidFill>
              </a:rPr>
              <a:t>Annual Losses Identified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2606040" cy="914400"/>
          </a:xfrm>
          <a:prstGeom prst="rect">
            <a:avLst/>
          </a:prstGeom>
          <a:solidFill>
            <a:srgbClr val="243B5E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063240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B3E8"/>
                </a:solidFill>
              </a:rPr>
              <a:t>7 Gaps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3456432"/>
            <a:ext cx="2606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B8D8"/>
                </a:solidFill>
              </a:rPr>
              <a:t>Process Failures Diagnosed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B3E8"/>
                </a:solidFill>
              </a:rPr>
              <a:t>Conducted by: Pallav Undhad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4A"/>
                </a:solidFill>
              </a:rPr>
              <a:t>About BremsenTech GmbH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The company which is centre of this audit is a Tier-2 brake component manufacturer facing a critical systems upgrade to retain and grow key customer contracts.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325880"/>
          <a:ext cx="822960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Weiden in der Oberpfalz, Bavaria, Germany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Founded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1987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Employees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220 (140 production, 45 logistics, 20 sales/admin and 15 IT/management)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Products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Brake discs, brake pads, and caliper assemblies for passenger vehicles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Key Customers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Continental AG (40%) , ZF Friedrichshafen (35%) and Bosch Automotive (25%)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Annual Revenue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EUR 38 million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Current System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SAP Business One 9.3 (outdated, limited manufacturing capability)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Certifications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IATF 16949 (automotive quality) and ISO 14001 (environment)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Production Volume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~85,000 brake disc units per month across 3 product lines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Strategic Goal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Upgrade to SAP S/4HANA to qualify for direct OEM supply by Q1 2027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99940"/>
            <a:ext cx="8229600" cy="296545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89780"/>
            <a:ext cx="8046720" cy="294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2400E"/>
                </a:solidFill>
              </a:rPr>
              <a:t>Key Challenge: BMW and Mercedes-Daimler requiring EDI integration and real-time delivery visibility as condition of direct Tier-1 status and current system cannot support this.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 structured four-phase approach consisting with management consulting practice.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874520" cy="2560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B3E8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Benchmark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267712"/>
            <a:ext cx="16916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8E8"/>
                </a:solidFill>
              </a:rPr>
              <a:t>Collected 8 industry benchmark data points from McKinsey, Oliver Wyman, AIAG, and Odette International to establish the performance baseline.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2423160"/>
            <a:ext cx="137160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234440"/>
            <a:ext cx="187452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AS-IS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Process Mapping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267712"/>
            <a:ext cx="16916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Mapped the complete Order-to-Delivery process across 6 swim lanes in BPMN 2.0, annotating every manual step and failure point.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137160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234440"/>
            <a:ext cx="187452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173736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Gap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267712"/>
            <a:ext cx="16916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Identified and quantified 7 process gaps, converting each operational problem into an annual EUR cost to build the financial case.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2423160"/>
            <a:ext cx="137160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234440"/>
            <a:ext cx="1874520" cy="256032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20840" y="1737360"/>
            <a:ext cx="1874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SAP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2267712"/>
            <a:ext cx="169164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Designed the TO-BE process with SAP S/4HANA module mapping, implementation phasing, and projected ROI for executive sign-off.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</a:rPr>
              <a:t>McKinsey Automotive Supply Chain Report , Oliver Wyman Supply Chain Benchmark, AIAG Quality Metrics, Odette International EDI Standards, SAP Help Portal, IATF 16949 Documentation, APQC Benchmarking and Ardent Partners AP Research</a:t>
            </a:r>
            <a:endParaRPr lang="en-US" sz="950" dirty="0">
              <a:solidFill>
                <a:schemeClr val="tx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</a:rPr>
              <a:t>Industry Benchmark vs. BremsenTech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BremsenTech underperforms industry average on 6 of 7 key supply chain metrics.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233170"/>
          <a:ext cx="8218170" cy="3027680"/>
        </p:xfrm>
        <a:graphic>
          <a:graphicData uri="http://schemas.openxmlformats.org/drawingml/2006/table">
            <a:tbl>
              <a:tblPr/>
              <a:tblGrid>
                <a:gridCol w="1807845"/>
                <a:gridCol w="1561465"/>
                <a:gridCol w="1561465"/>
                <a:gridCol w="1397635"/>
                <a:gridCol w="1889760"/>
              </a:tblGrid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Industry Best Practice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BremsenTech AS-IS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OtD Cycle 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7–10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14.2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+79% above 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McKinsey Automotive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On-Time Delivery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95–98%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87%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−9 pp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AIAG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Inventory Turnover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12–18x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9x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−6 cycles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Deloitte Supply Chain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Invoice Processing 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days (auto)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8.5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+5.5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Ardent Partners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EDI Integration 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78% of peers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0% (none)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 gap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Odette International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Defect Detection Speed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Real-time inline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6-hour batch lag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6h blind spot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IATF 16949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Manual Process Steps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 handoffs avg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7A4A"/>
                          </a:solidFill>
                        </a:rPr>
                        <a:t>17 handoffs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+13 manual steps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APQC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AS-IS Process Map (Order-to-Delivery)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17 manual handoffs identified across 6 process stages. Full BPMN 2.0 diagram available in GitHub repository.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Continental AG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19072" y="1005840"/>
            <a:ext cx="6967728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5156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Send PO via email/fax ⚠️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73352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Sales / Order Mgmt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19072" y="1673352"/>
            <a:ext cx="6967728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719072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Receive PO from inbox ⚠️   →   Re-key data into SAP B1 ⚠️  (23 min, 4% error rate)   →   Check stock availability   →   Confirm date via email ⚠️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40864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Production Planning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19072" y="2340864"/>
            <a:ext cx="6967728" cy="594360"/>
          </a:xfrm>
          <a:prstGeom prst="rect">
            <a:avLst/>
          </a:prstGeom>
          <a:solidFill>
            <a:srgbClr val="FEF9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386584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Create production order   →   Calculate materials manually ⚠️   →   Schedule via Excel ⚠️  (2.1-day delay)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08376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Production Floor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19072" y="3008376"/>
            <a:ext cx="6967728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054096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Pull materials via paper form ⚠️   →   Manufacture brake components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75888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Quality Control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19072" y="3675888"/>
            <a:ext cx="6967728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3721608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Batch end-of-line inspection ⚠️  (6h lag)   →   Rework/scrap if failed ⚠️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123444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1234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Logistics / Warehouse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719072" y="4343400"/>
            <a:ext cx="6967728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438912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E293B"/>
                </a:solidFill>
              </a:rPr>
              <a:t>Transfer to warehouse   →   Create delivery note manually   →   Pick and pack   →   Book transport by phone ⚠️   →   Ship goods   →   Create invoice manually ⚠️  (8.5-day lag)   →   Send invoice by email/post ⚠️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2400E"/>
                </a:solidFill>
              </a:rPr>
              <a:t>⚠️ = Manual pain point identified  ·  13 of 17 steps are eliminable with SAP S/4HANA automation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Key Findings are 7 Process Gaps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Each gap has been quantified against its annual cost impact to build a clear financial case for change.</a:t>
            </a:r>
            <a:endParaRPr 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051560"/>
          <a:ext cx="8229600" cy="3611880"/>
        </p:xfrm>
        <a:graphic>
          <a:graphicData uri="http://schemas.openxmlformats.org/drawingml/2006/table">
            <a:tbl>
              <a:tblPr/>
              <a:tblGrid>
                <a:gridCol w="594360"/>
                <a:gridCol w="2103120"/>
                <a:gridCol w="1920240"/>
                <a:gridCol w="2011680"/>
                <a:gridCol w="1143000"/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Gap Title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Root Cause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Cost Impact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Zero EDI 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SAP B1 has no EDI capability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EUR 4M+ opportunity lost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Manual Order Entry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PO auto-import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43,200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Excel Production Scheduling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SAP B1 has no MRP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95,000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End-of-Line Batch QC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inline inspection in SAP B1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85,000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Manual Invoice Creation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automated AR / EDI INVOIC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112,000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No Delivery Visibility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 TMS or tracking 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180,000 / year (SLA breach)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G-07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Fragmented Inventory Data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EWM not configured in SAP B1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EUR 168,000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TO-BE Process Map — SAP S/4HANA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Every manual pain point resolved. 17 handoffs reduced to 4. OtD target: 8.1 days.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24688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❌  Email/fax PO from Continental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3200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124712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</a:rPr>
              <a:t>✓  EDI ORDERS auto-received into SAP SD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92240" y="1051560"/>
            <a:ext cx="137160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124712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A8"/>
                </a:solidFill>
              </a:rPr>
              <a:t>SAP SD + Integration Suite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955280" y="1051560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124712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23 min → 0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709928"/>
            <a:ext cx="26517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83080"/>
            <a:ext cx="24688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❌  Manual re-keying of PO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709928"/>
            <a:ext cx="3200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83080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</a:rPr>
              <a:t>✓  PO auto-creates Sales Order, hence zero entry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1709928"/>
            <a:ext cx="137160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83080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A8"/>
                </a:solidFill>
              </a:rPr>
              <a:t>SAP SD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955280" y="1709928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783080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Eliminates 4% error rate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68296"/>
            <a:ext cx="26517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41448"/>
            <a:ext cx="24688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❌  Excel production scheduling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368296"/>
            <a:ext cx="3200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41448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</a:rPr>
              <a:t>✓  SAP MRP planning run (fully automated)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2368296"/>
            <a:ext cx="137160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441448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A8"/>
                </a:solidFill>
              </a:rPr>
              <a:t>SAP PP (MRP/MPS)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955280" y="2368296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441448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2.1 days → same-day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026664"/>
            <a:ext cx="26517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99816"/>
            <a:ext cx="24688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❌  End-of-line batch QC (6h lag)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026664"/>
            <a:ext cx="3200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99816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</a:rPr>
              <a:t>✓  Inline SAP QM inspection at each stage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026664"/>
            <a:ext cx="137160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099816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A8"/>
                </a:solidFill>
              </a:rPr>
              <a:t>SAP QM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955280" y="3026664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3099816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6h lag → real-time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685032"/>
            <a:ext cx="265176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758184"/>
            <a:ext cx="24688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</a:rPr>
              <a:t>❌  Manual invoice (8.5-day lag)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3685032"/>
            <a:ext cx="3200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758184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</a:rPr>
              <a:t>✓  Automated EDI INVOIC on goods issue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3685032"/>
            <a:ext cx="1371600" cy="56692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758184"/>
            <a:ext cx="1371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A8"/>
                </a:solidFill>
              </a:rPr>
              <a:t>SAP FI/AR + EDI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955280" y="3685032"/>
            <a:ext cx="9144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758184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8.5 days → same day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3484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AS-IS: 17 manual steps, 14.2-day OtD and 8.5-day invoice lag          →          TO-BE: 4 manual steps, 8.1-day OtD and Same-day invoicing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 BremsenTech GmbH Process Audit 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  <p:sp>
        <p:nvSpPr>
          <p:cNvPr id="47" name="Text Box 46"/>
          <p:cNvSpPr txBox="1"/>
          <p:nvPr/>
        </p:nvSpPr>
        <p:spPr>
          <a:xfrm>
            <a:off x="5868670" y="501840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SAP Module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SAP S/4HANA Implementation Scope (Core + Extension Modules)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SD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Sales &amp; Distribution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Order management, ATP check, EDI ORDERS/ORDRSP/DESADV/INVOIC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G-01, G-02  ·  Medium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24128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MM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Materials Management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5361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Purchase orders, goods receipt, inventory management, MRP materials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1975104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G-07  ·  Medium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1005840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024128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298448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Production Planning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80760" y="1536192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MRP planning runs, production orders, capacity planning, shop floor scheduling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80760" y="1975104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G-03  ·  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2304288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304288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22576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QM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59689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Quality Management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283464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Inline inspection points, defect recording, usage decisions, IATF 16949 traceability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3273552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G-04  ·  Medium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0" y="2304288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304288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22576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FI/CO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259689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Finance &amp; Controlling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283464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Accounts receivable, automated invoicing, cost centre accounting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3273552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G-05  ·  Medium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2304288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2304288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322576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EWM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2596896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Extended Warehouse Mgmt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80760" y="2834640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Real-time bin tracking, warehouse tasks, pick/pack optimisation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80760" y="3273552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G-07  ·  Med–High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602736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3602736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21024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SAP TM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389534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Transportation Mgmt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" y="4133088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Carrier booking, shipment tracking, freight cost management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457200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G-06  ·  Medium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0" y="3602736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0" y="3602736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3621024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Suite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91840" y="389534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BTP / EDI Platform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91840" y="4133088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EDI B2B messaging with Continental/ZF — ORDERS, DESADV, INVOIC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91840" y="457200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G-01, G-06  ·  High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89320" y="3602736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89320" y="3602736"/>
            <a:ext cx="2606040" cy="274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3621024"/>
            <a:ext cx="26060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 Cloud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080760" y="3895344"/>
            <a:ext cx="2423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A"/>
                </a:solidFill>
              </a:rPr>
              <a:t>SAP Analytics Cloud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080760" y="4133088"/>
            <a:ext cx="2423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OtD KPI dashboards, quality metrics, inventory reports, exec view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080760" y="4572000"/>
            <a:ext cx="24231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A8"/>
                </a:solidFill>
              </a:rPr>
              <a:t>Gaps: All  ·  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Implementation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An 18-month phased rollout using the SAP Activate methodology — structured to deliver tangible business value at each phase.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65176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9848"/>
            <a:ext cx="2651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1, Months 1–6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Core ERP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</a:rPr>
              <a:t>SAP SD · MM · FI/CO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21284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OtD reduced from 14.2 → 11 days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505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Invoice automation live (same-day)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798064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Real-time stock visibility active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09067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Manual order entry eliminated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69848"/>
            <a:ext cx="2651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2, Months 7–12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508760"/>
            <a:ext cx="265176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72768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Operations &amp;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8745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</a:rPr>
              <a:t>SAP PP · QM · EWM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2130552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MRP scheduling operational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2505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Inline QM, real-time defect detection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2798064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EWM bin-level inventory tracking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309067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OtD further reduced to 9.0 days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051560"/>
            <a:ext cx="2651760" cy="457200"/>
          </a:xfrm>
          <a:prstGeom prst="rect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069848"/>
            <a:ext cx="2651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3, Months 13–18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508760"/>
            <a:ext cx="2651760" cy="2880360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572768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Connectivity &amp;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187452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</a:rPr>
              <a:t>Integration Suite · TM · SAC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2130552"/>
            <a:ext cx="24688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2212848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Full EDI with Continental, ZF, Bosch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0488" y="2505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Real-time shipment tracking live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0488" y="2798064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SAP Analytics Cloud dashboards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0488" y="3090672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 Target OtD: 8.1 days achieved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3600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A8"/>
                </a:solidFill>
              </a:rPr>
              <a:t>SAP Activate Methodology =  Discover → Prepare → Explore → Realize → Deploy → Run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 BremsenTech GmbH Process Audit (2026)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</a:rPr>
              <a:t>Expected ROI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Before / After Key Metrics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033272"/>
          <a:ext cx="475488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AS-IS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TO-BE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OtD Cycle 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14.2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8.1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On-Time Delivery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87%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96% +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Invoice Lag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8.5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Same day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Inventory Turnover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9x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14x / 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Manual Handoffs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Annual Process Loss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EUR 683K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EUR 83K (residual)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4754880" cy="62179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97764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E8"/>
                </a:solidFill>
              </a:rPr>
              <a:t>EUR 600K annual savings and EUR 4M+ OEM opportunity unlocked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0" y="731520"/>
            <a:ext cx="3200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Recommended Next Steps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40680" y="1033272"/>
            <a:ext cx="347472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103327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70448" y="1051560"/>
            <a:ext cx="28163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Executive Sponsor Alignment</a:t>
            </a:r>
            <a:endParaRPr lang="en-US" sz="1000" dirty="0"/>
          </a:p>
        </p:txBody>
      </p:sp>
      <p:sp>
        <p:nvSpPr>
          <p:cNvPr id="4" name="Text 8"/>
          <p:cNvSpPr/>
          <p:nvPr/>
        </p:nvSpPr>
        <p:spPr>
          <a:xfrm>
            <a:off x="5870448" y="1307592"/>
            <a:ext cx="28163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Present findings to C-suite and secure budget approval. Estimated investment: EUR 2.2–2.8M over 18 months.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40680" y="1947672"/>
            <a:ext cx="347472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194767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70448" y="1965960"/>
            <a:ext cx="28163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Vendor Selection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70448" y="2221992"/>
            <a:ext cx="28163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Run formal RFP process, SAP vs. alternatives. Recommend engaging 2–3 certified SAP Activate implementation partners.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40680" y="2862072"/>
            <a:ext cx="347472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0680" y="286207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70448" y="2880360"/>
            <a:ext cx="28163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SAP Activate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70448" y="3136392"/>
            <a:ext cx="28163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Initiate SAP Activate Discover phase. Conduct fit-gap workshops with key process owners across SD, PP, and QM.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40680" y="3776472"/>
            <a:ext cx="347472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40680" y="377647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70448" y="3794760"/>
            <a:ext cx="281635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Change Management Plan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70448" y="4050792"/>
            <a:ext cx="28163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Define training plan and communication strategy for 220 employees. User adoption is the primary implementation risk.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Confidential, BremsenTech GmbH Process Audit </a:t>
            </a:r>
            <a:r>
              <a:rPr lang="en-US" sz="800" dirty="0">
                <a:solidFill>
                  <a:srgbClr val="94A3B8"/>
                </a:solidFill>
                <a:sym typeface="+mn-ea"/>
              </a:rPr>
              <a:t>(2026)</a:t>
            </a:r>
            <a:endParaRPr lang="en-US" sz="800" dirty="0"/>
          </a:p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8537</Words>
  <Application>WPS Presentation</Application>
  <PresentationFormat>On-screen Show (16:9)</PresentationFormat>
  <Paragraphs>568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BremsenTech GmbH — Process Audit</dc:title>
  <dc:creator>Process Audit</dc:creator>
  <dc:subject>PptxGenJS Presentation</dc:subject>
  <cp:lastModifiedBy>Pallav Undhad</cp:lastModifiedBy>
  <cp:revision>3</cp:revision>
  <dcterms:created xsi:type="dcterms:W3CDTF">2026-04-28T08:32:00Z</dcterms:created>
  <dcterms:modified xsi:type="dcterms:W3CDTF">2026-05-04T21:31:47Z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7E9DAE67088345FF9DE5E304E5F32EDA_13</vt:lpwstr>
  </property>
</Properties>
</file>